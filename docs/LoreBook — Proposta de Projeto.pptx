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LoreBook em uma frase: um aplicativo móvel para escrever e organizar histórias em um só lugar. Apresentar a dupla e dizer que esta é a proposta do Projeto Integrador ADS 2026/2.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escreve narrativas de médio ou longo prazo costuma distribuir o material em vários lugares. Isso gera três efeitos: dificulta a consulta, aumenta o risco de inconsistências e torna a organização menos prática, principalmente no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LoreBook concentra em um só aplicativo tudo o que hoje fica disperso: obras, capítulos, materiais de apoio à narrativa e contas com permissões. O conteúdo é escrito e salvo localmente no dispositivo. Personagens, Bíblia e notas evoluem de forma progressiva.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o objetivo geral. Os objetivos específicos aparecem nos próximos slides: autenticação e sessão, perfis ADMIN e USER, isolamento de dados por usuário, CRUD de obras e capítulos, persistência em SQLite, feedbacks claros, código em camadas com Repository Pattern e preparação para serviços remotos 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público são pessoas que escrevem ficção e querem organizar manuscrito e planejamento no celular. Duas personas guiam as decisões: Marina, estudante que escreve pelo celular, e Rafael, autor independente com vários projetos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escopo inicial cobre os fluxos essenciais de organização e escrita: autenticação local, perfis, obras, capítulos, administração, planejamento narrativo e feedback com acessibilidade. IA e sincronização remota ficam explicitamente como evolução futura.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proposta define 13 requisitos funcionais, 8 não funcionais e 12 regras de negócio. Dos funcionais, 8 são de prioridade alta (cadastro, autenticação, perfis, CRUD de obras e capítulos, persistência, isolamento entre usuários e feedbacks), 3 de prioridade média (administração de usuários e contas, áreas de apoio) e 2 ficam para a evolução futura. Os não funcionais cobrem usabilidade, acessibilidade, persistência, segurança local, manutenibilidade, compatibilidade, confiabilidade e evolutividade.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12 regras de negócio, estas sustentam o controle de acesso. O perfil não é escolhido no cadastro: a primeira conta é ADMIN e as demais são USER. Cada obra tem um proprietário; USER só vê as próprias, e o ADMIN consulta obras alheias apenas em contexto administrativo. Também valem: e-mail normalizado e único (RN-03) e títulos de obra e capítulo não vazios (RN-12).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núcleo persistido no SQLite tem quatro entidades. users guarda contas, perfil, status e a senha como hash com salt, nunca em texto puro. projects são as obras, cada uma com um proprietário. chapters pertencem a uma única obra. app_session registra a sessão ativa para restaurar o login ao reabrir 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 em camadas com Repository Pattern. O fluxo vai de Presentation até Infrastructure e SQLite. O ganho principal é manter SQL e detalhes do banco fora das telas, deixar as regras validáveis isoladamente e permitir adicionar uma fonte remota ou serviços de IA por meio de uma camada de aplicação, sem acoplar chamadas diretamente à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Native com Expo permite uma base única para dispositivos móveis, com foco inicial em Android. TypeScript dá previsibilidade. Expo SQLite cuida da persistência local. Expo Crypto gera salt e hash das senhas. Safe Area Context evita sobreposição com áreas do sistema. Git e GitHub registram a evolução do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identidade visual é ligada à escrita: interface limpa, hierarquia clara e foco no conteúdo. Ações destrutivas sempre pedem confirmação, e todo estado da tela é explícito, inclusive listas vazias e erros. O editor tem menos elementos para priorizar a leitura e a escrita.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IA faz parte da visão futura, não do escopo inicial. Quatro princípios: é opcional; nunca faz alterações silenciosas, toda sugestão passa pelo autor; usa apenas o contexto selecionado e autorizado; e fica em uma camada desacoplada, o que permite trocar de provedor. Usos previstos: consulta sobre personagens, capítulos e Bíblia da obra, revisão de coerência e organização de fichas e notas.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evolução prevista segue sete etapas: definição de escopo e requisitos, prototipação e navegação, persistência local, autenticação e perfis, gerenciamento de obras e capítulos, refinamento de usabilidade e acessibilidade e, por último, sincronização remota e recursos inteligentes. A divisão pode ser ajustada conforme o projeto evolui.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transparente sobre os limites: a persistência é local ao dispositivo, sem compartilhamento entre aparelhos; não há recuperação remota de senha nem sincronização em nuvem; algumas áreas de planejamento ainda evoluem; e a IA é parte da evolução planejada. A autenticação local deverá evoluir quando houver serviço remoto.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Agradecer, abrir para perguntas e reforçar a divisão de responsabilidades da dupla, registrada no backlog e no histórico do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59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C1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9599"/>
            <a:ext cx="10566400" cy="4165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59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C1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9599"/>
            <a:ext cx="10566400" cy="4165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oo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77200" y="1524000"/>
            <a:ext cx="3302000" cy="330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39B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PUC GOIÁS · ANÁLISE E DESENVOLVIMENTO DE SISTEMAS</a:t>
            </a:r>
            <a:endParaRPr lang="en-US" sz="1200" dirty="0"/>
          </a:p>
        </p:txBody>
      </p:sp>
      <p:pic>
        <p:nvPicPr>
          <p:cNvPr id="4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2510790"/>
            <a:ext cx="762000" cy="381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812800" y="2752090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i="0" dirty="0">
                <a:solidFill>
                  <a:srgbClr val="F6F1E7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LoreBook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812800" y="371729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i="1" dirty="0">
                <a:solidFill>
                  <a:srgbClr val="CFC8D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Escrever e organizar histórias em um só lugar.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12800" y="553212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Pedro Henrique de Araujo Pereira · Henrique Borges da Silva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12800" y="58318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E97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Proposta de Projeto · Projeto Integrador ADS 2026/2 · Goiânia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Histórias longas vivem espalhadas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3040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Capítulos, anotações, fichas e referências ficam distribuídos em arquivos e aplicativos diferentes.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5975" y="2949575"/>
            <a:ext cx="3380317" cy="2302510"/>
          </a:xfrm>
          <a:prstGeom prst="roundRect">
            <a:avLst>
              <a:gd name="adj" fmla="val 5378"/>
            </a:avLst>
          </a:prstGeom>
          <a:solidFill>
            <a:srgbClr val="FCFAF4"/>
          </a:solidFill>
          <a:ln w="6350">
            <a:solidFill>
              <a:srgbClr val="E2D9C6"/>
            </a:solidFill>
            <a:prstDash val="solid"/>
          </a:ln>
        </p:spPr>
      </p:sp>
      <p:pic>
        <p:nvPicPr>
          <p:cNvPr id="6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3206750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3150" y="3587750"/>
            <a:ext cx="295194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Consulta difícil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73150" y="3956050"/>
            <a:ext cx="295194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Encontrar um detalhe exige abrir várias fontes.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05842" y="2949575"/>
            <a:ext cx="3380317" cy="2302510"/>
          </a:xfrm>
          <a:prstGeom prst="roundRect">
            <a:avLst>
              <a:gd name="adj" fmla="val 5378"/>
            </a:avLst>
          </a:prstGeom>
          <a:solidFill>
            <a:srgbClr val="FCFAF4"/>
          </a:solidFill>
          <a:ln w="6350">
            <a:solidFill>
              <a:srgbClr val="E2D9C6"/>
            </a:solidFill>
            <a:prstDash val="solid"/>
          </a:ln>
        </p:spPr>
      </p:sp>
      <p:pic>
        <p:nvPicPr>
          <p:cNvPr id="10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017" y="3206750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017" y="3587750"/>
            <a:ext cx="311996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Risco de inconsistência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663017" y="3956050"/>
            <a:ext cx="295194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Personagens e regras de mundo se contradizem ao longo da obra.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995708" y="2949575"/>
            <a:ext cx="3380317" cy="2302510"/>
          </a:xfrm>
          <a:prstGeom prst="roundRect">
            <a:avLst>
              <a:gd name="adj" fmla="val 5378"/>
            </a:avLst>
          </a:prstGeom>
          <a:solidFill>
            <a:srgbClr val="FCFAF4"/>
          </a:solidFill>
          <a:ln w="6350">
            <a:solidFill>
              <a:srgbClr val="E2D9C6"/>
            </a:solidFill>
            <a:prstDash val="solid"/>
          </a:ln>
        </p:spPr>
      </p:sp>
      <p:pic>
        <p:nvPicPr>
          <p:cNvPr id="14" name="Image 2" descr="C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2883" y="3206750"/>
            <a:ext cx="304800" cy="304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52883" y="3587750"/>
            <a:ext cx="295194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Pouco prático no celular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8252883" y="4248150"/>
            <a:ext cx="2951946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Alternar entre ferramentas interrompe a escrita em dispositivos móveis.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LoreBook · Projeto Integrador ADS 2026/2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PROPOSTA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Um único ambiente para a obra inteira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6750"/>
            <a:ext cx="10566400" cy="0"/>
          </a:xfrm>
          <a:prstGeom prst="line">
            <a:avLst/>
          </a:prstGeom>
          <a:noFill/>
          <a:ln w="12700">
            <a:solidFill>
              <a:srgbClr val="1C1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2657475"/>
            <a:ext cx="105664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2192020"/>
            <a:ext cx="457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046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24000" y="2146300"/>
            <a:ext cx="34010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Obras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30800" y="2174239"/>
            <a:ext cx="6435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Cadastro com título, gênero e proprietário.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3375025"/>
            <a:ext cx="105664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909570"/>
            <a:ext cx="457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046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24000" y="2863850"/>
            <a:ext cx="34010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Capítulos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30800" y="2891789"/>
            <a:ext cx="6435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Conteúdo, status e contagem de palavras, salvos localmente.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4092575"/>
            <a:ext cx="105664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627120"/>
            <a:ext cx="457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046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24000" y="3581400"/>
            <a:ext cx="34010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Planejamento narrativo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30800" y="3609339"/>
            <a:ext cx="6435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Personagens, Bíblia do universo e notas, em evolução progressiva.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2800" y="4810125"/>
            <a:ext cx="105664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4344670"/>
            <a:ext cx="457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046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24000" y="4298950"/>
            <a:ext cx="34010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Contas e perfis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30800" y="4326889"/>
            <a:ext cx="6435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Login local com permissões distintas para ADMIN e USER.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LoreBook · Projeto Integrador ADS 2026/2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A04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5458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6D9C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OBJETIVO GERAL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821939"/>
            <a:ext cx="10883392" cy="1000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0" i="0" dirty="0">
                <a:solidFill>
                  <a:srgbClr val="F6F1E7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Uma aplicação móvel para apoiar escritores na criação, organização e consulta de obras literárias.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40513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D9C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 persistência estruturada, autenticação, controle de acesso e base preparada para recursos inteligentes.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D9C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LoreBook · Projeto Integrador ADS 2026/2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D9C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PÚBLICO-ALVO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Pensado para quem escreve histórias longas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6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Autores iniciantes, estudantes e escritores independentes, no celular.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436496"/>
            <a:ext cx="5175250" cy="3003550"/>
          </a:xfrm>
          <a:prstGeom prst="roundRect">
            <a:avLst>
              <a:gd name="adj" fmla="val 4123"/>
            </a:avLst>
          </a:prstGeom>
          <a:solidFill>
            <a:srgbClr val="FCFAF4"/>
          </a:solidFill>
          <a:ln w="6350">
            <a:solidFill>
              <a:srgbClr val="E2D9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3150" y="269367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A046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6F1E7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60550" y="2733039"/>
            <a:ext cx="2197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Marina, 21 anos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60550" y="3050539"/>
            <a:ext cx="2559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Estudante e escritora iniciante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3150" y="3481071"/>
            <a:ext cx="48007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PRECISA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3150" y="3745229"/>
            <a:ext cx="48007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Escrever pelo celular sem perder capítulos e ideias.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3150" y="4171950"/>
            <a:ext cx="48007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COMO O LOREBOOK AJUDA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3150" y="4436111"/>
            <a:ext cx="480072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Centraliza obras, capítulos e materiais de apoio em uma única interface.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0775" y="2436496"/>
            <a:ext cx="5175250" cy="3003550"/>
          </a:xfrm>
          <a:prstGeom prst="roundRect">
            <a:avLst>
              <a:gd name="adj" fmla="val 4123"/>
            </a:avLst>
          </a:prstGeom>
          <a:solidFill>
            <a:srgbClr val="FCFAF4"/>
          </a:solidFill>
          <a:ln w="6350">
            <a:solidFill>
              <a:srgbClr val="E2D9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7950" y="269367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C1A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6F1E7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45350" y="2733039"/>
            <a:ext cx="222732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Rafael, 32 anos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245350" y="3050539"/>
            <a:ext cx="1911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Autor independente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57950" y="3481071"/>
            <a:ext cx="48007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PRECISA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57950" y="3745229"/>
            <a:ext cx="480072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Organizar projetos diferentes e manter o controle do manuscrito.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7950" y="4420871"/>
            <a:ext cx="48007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COMO O LOREBOOK AJUDA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57950" y="4685029"/>
            <a:ext cx="480072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Separa obras por proprietário e mantém capítulos e informações organizados.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LoreBook · Projeto Integrador ADS 2026/2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ESCOPO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O escopo prioriza os fluxos essenciais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30400"/>
            <a:ext cx="66974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ESCOPO INICIAL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2299336"/>
            <a:ext cx="31750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2404111"/>
            <a:ext cx="32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Autenticação local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678429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Cadastro, login e sessão em SQLite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40200" y="2299336"/>
            <a:ext cx="31750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40200" y="2404111"/>
            <a:ext cx="32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Perfis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40200" y="2678429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ADMIN e USER, permissões distintas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3047364"/>
            <a:ext cx="31750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3152139"/>
            <a:ext cx="32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Obras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3426461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Título, gênero e proprietário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40200" y="3047364"/>
            <a:ext cx="31750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40200" y="3152139"/>
            <a:ext cx="32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Capítulos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40200" y="3426461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Conteúdo, status e nº de palavras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3795396"/>
            <a:ext cx="31750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3900171"/>
            <a:ext cx="32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Administração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4174489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Usuários, contas e obras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40200" y="3795396"/>
            <a:ext cx="31750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40200" y="3900171"/>
            <a:ext cx="32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Planejamento narrativo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40200" y="4174489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Personagens, Bíblia e notas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800" y="4543425"/>
            <a:ext cx="31750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800" y="4648200"/>
            <a:ext cx="32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Feedback e acessibilidade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4922521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Estados de tela e confirmações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18400" y="1930400"/>
            <a:ext cx="3860800" cy="3205480"/>
          </a:xfrm>
          <a:prstGeom prst="roundRect">
            <a:avLst>
              <a:gd name="adj" fmla="val 3962"/>
            </a:avLst>
          </a:prstGeom>
          <a:solidFill>
            <a:srgbClr val="1C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7823200" y="2235200"/>
            <a:ext cx="33487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39B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EVOLUÇÃO FUTURA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23200" y="2600961"/>
            <a:ext cx="334873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6F1E7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Inteligência artificial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823200" y="2943861"/>
            <a:ext cx="334873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FC8D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Apoio opcional à escrita e à revisão, com o autor no controle.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823200" y="3594100"/>
            <a:ext cx="334873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6F1E7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Sincronização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823200" y="3937000"/>
            <a:ext cx="334873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FC8D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Dados remotos entre aparelhos; o SQLite segue como camada offline.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LoreBook · Projeto Integrador ADS 2026/2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33 requisitos e regras orientam a entrega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9925"/>
            <a:ext cx="3386667" cy="0"/>
          </a:xfrm>
          <a:prstGeom prst="line">
            <a:avLst/>
          </a:prstGeom>
          <a:noFill/>
          <a:ln w="19050">
            <a:solidFill>
              <a:srgbClr val="1C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101850"/>
            <a:ext cx="348826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A046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13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12800" y="2914650"/>
            <a:ext cx="34882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requisitos funcionais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2667" y="1939925"/>
            <a:ext cx="3386667" cy="0"/>
          </a:xfrm>
          <a:prstGeom prst="line">
            <a:avLst/>
          </a:prstGeom>
          <a:noFill/>
          <a:ln w="19050">
            <a:solidFill>
              <a:srgbClr val="1C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2667" y="2101850"/>
            <a:ext cx="348826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A046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8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402667" y="2914650"/>
            <a:ext cx="34882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requisitos não funcionais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2533" y="1939925"/>
            <a:ext cx="3386667" cy="0"/>
          </a:xfrm>
          <a:prstGeom prst="line">
            <a:avLst/>
          </a:prstGeom>
          <a:noFill/>
          <a:ln w="19050">
            <a:solidFill>
              <a:srgbClr val="1C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92533" y="2101850"/>
            <a:ext cx="348826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A046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12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7992533" y="2914650"/>
            <a:ext cx="34882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regras de negócio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351917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PRIORIDADE DOS REQUISITOS FUNCIONAIS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3834129"/>
            <a:ext cx="6166379" cy="457200"/>
          </a:xfrm>
          <a:prstGeom prst="roundRect">
            <a:avLst>
              <a:gd name="adj" fmla="val 16667"/>
            </a:avLst>
          </a:prstGeom>
          <a:solidFill>
            <a:srgbClr val="1C1A2E"/>
          </a:solidFill>
          <a:ln/>
        </p:spPr>
        <p:txBody>
          <a:bodyPr wrap="square" lIns="130082" tIns="0" rIns="130082" bIns="0" rtlCol="0" anchor="ctr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Alta · 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29979" y="3834129"/>
            <a:ext cx="2502853" cy="457200"/>
          </a:xfrm>
          <a:prstGeom prst="roundRect">
            <a:avLst>
              <a:gd name="adj" fmla="val 16667"/>
            </a:avLst>
          </a:prstGeom>
          <a:solidFill>
            <a:srgbClr val="A0461F"/>
          </a:solidFill>
          <a:ln/>
        </p:spPr>
        <p:txBody>
          <a:bodyPr wrap="square" lIns="130082" tIns="0" rIns="130082" bIns="0" rtlCol="0" anchor="ctr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Média ·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89982" y="3840479"/>
            <a:ext cx="1782868" cy="444500"/>
          </a:xfrm>
          <a:prstGeom prst="roundRect">
            <a:avLst>
              <a:gd name="adj" fmla="val 15714"/>
            </a:avLst>
          </a:prstGeom>
          <a:noFill/>
          <a:ln w="12700">
            <a:solidFill>
              <a:srgbClr val="6B6478"/>
            </a:solidFill>
            <a:prstDash val="dash"/>
          </a:ln>
        </p:spPr>
        <p:txBody>
          <a:bodyPr wrap="square" lIns="138292" tIns="0" rIns="138292" bIns="0" rtlCol="0" anchor="ctr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Futura ·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439292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Os dois requisitos futuros são a assistência por IA (RF12) e a sincronização remota (RF13).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LoreBook · Projeto Integrador ADS 2026/2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REGRAS DE NEGÓCIO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O acesso às obras segue o proprietário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6750"/>
            <a:ext cx="10566400" cy="0"/>
          </a:xfrm>
          <a:prstGeom prst="line">
            <a:avLst/>
          </a:prstGeom>
          <a:noFill/>
          <a:ln w="12700">
            <a:solidFill>
              <a:srgbClr val="1C1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2555875"/>
            <a:ext cx="105664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2141221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046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RN-01 · RN-02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67000" y="2095500"/>
            <a:ext cx="89735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A primeira conta recebe ADMIN; as seguintes, USER.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12800" y="3171825"/>
            <a:ext cx="105664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757171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046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RN-04 · RN-05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67000" y="2711450"/>
            <a:ext cx="89735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Toda obra tem dono, e o USER só acessa as próprias.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800" y="3787775"/>
            <a:ext cx="105664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3373121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046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RN-09 · RN-10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67000" y="3327400"/>
            <a:ext cx="89735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Capítulos herdam a autorização da obra a que pertencem.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2800" y="4403725"/>
            <a:ext cx="105664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800" y="3989071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046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RN-07 · RN-08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67000" y="3943350"/>
            <a:ext cx="89735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Conta desativada não autentica; sempre resta um ADMIN ativo.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12800" y="5019675"/>
            <a:ext cx="105664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4605021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046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RN-11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67000" y="4559300"/>
            <a:ext cx="89735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Excluir a obra remove seus capítulos de forma consistente.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LoreBook · Projeto Integrador ADS 2026/2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MODELAGEM DE DADOS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Quatro entidades formam o núcleo dos dados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038350"/>
            <a:ext cx="2781300" cy="1574800"/>
          </a:xfrm>
          <a:prstGeom prst="roundRect">
            <a:avLst>
              <a:gd name="adj" fmla="val 6048"/>
            </a:avLst>
          </a:prstGeom>
          <a:solidFill>
            <a:srgbClr val="FCFAF4"/>
          </a:solidFill>
          <a:ln w="12700">
            <a:solidFill>
              <a:srgbClr val="1C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2247900"/>
            <a:ext cx="24330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A046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8700" y="2628900"/>
            <a:ext cx="243306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Contas locais, perfil ADMIN/USER, status, hash e salt de senha.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5350" y="2038350"/>
            <a:ext cx="2781300" cy="1574800"/>
          </a:xfrm>
          <a:prstGeom prst="roundRect">
            <a:avLst>
              <a:gd name="adj" fmla="val 6048"/>
            </a:avLst>
          </a:prstGeom>
          <a:solidFill>
            <a:srgbClr val="FCFAF4"/>
          </a:solidFill>
          <a:ln w="12700">
            <a:solidFill>
              <a:srgbClr val="1C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4900" y="2247900"/>
            <a:ext cx="24330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A046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projects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14900" y="2628900"/>
            <a:ext cx="243306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Obras: título, gênero, proprietário e atualização.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91550" y="2038350"/>
            <a:ext cx="2781300" cy="1574800"/>
          </a:xfrm>
          <a:prstGeom prst="roundRect">
            <a:avLst>
              <a:gd name="adj" fmla="val 6048"/>
            </a:avLst>
          </a:prstGeom>
          <a:solidFill>
            <a:srgbClr val="FCFAF4"/>
          </a:solidFill>
          <a:ln w="12700">
            <a:solidFill>
              <a:srgbClr val="1C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01100" y="2247900"/>
            <a:ext cx="24330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A046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chapters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801100" y="2628900"/>
            <a:ext cx="243306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Número, título, conteúdo, status e contagem de palavras.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9150" y="4260850"/>
            <a:ext cx="2781300" cy="1384300"/>
          </a:xfrm>
          <a:prstGeom prst="roundRect">
            <a:avLst>
              <a:gd name="adj" fmla="val 6881"/>
            </a:avLst>
          </a:prstGeom>
          <a:solidFill>
            <a:srgbClr val="EDE5D3"/>
          </a:solidFill>
          <a:ln w="12700">
            <a:solidFill>
              <a:srgbClr val="6B647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028700" y="4470400"/>
            <a:ext cx="24330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A046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app_session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28700" y="4851400"/>
            <a:ext cx="243306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Sessão local ativa, para restauração automática.</a:t>
            </a:r>
            <a:endParaRPr lang="en-US" sz="1200" dirty="0"/>
          </a:p>
        </p:txBody>
      </p:sp>
      <p:pic>
        <p:nvPicPr>
          <p:cNvPr id="16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56000" y="2774950"/>
            <a:ext cx="1193800" cy="101600"/>
          </a:xfrm>
          <a:prstGeom prst="rect">
            <a:avLst/>
          </a:prstGeom>
        </p:spPr>
      </p:pic>
      <p:pic>
        <p:nvPicPr>
          <p:cNvPr id="17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42200" y="2774950"/>
            <a:ext cx="1193800" cy="101600"/>
          </a:xfrm>
          <a:prstGeom prst="rect">
            <a:avLst/>
          </a:prstGeom>
        </p:spPr>
      </p:pic>
      <p:pic>
        <p:nvPicPr>
          <p:cNvPr id="18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159000" y="3568700"/>
            <a:ext cx="101600" cy="736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81400" y="2489200"/>
            <a:ext cx="114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1A2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: 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467600" y="2489200"/>
            <a:ext cx="114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1A2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: 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2336800" y="3810000"/>
            <a:ext cx="1447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referencia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11700" y="4381500"/>
            <a:ext cx="0" cy="533400"/>
          </a:xfrm>
          <a:prstGeom prst="line">
            <a:avLst/>
          </a:prstGeom>
          <a:noFill/>
          <a:ln w="25400">
            <a:solidFill>
              <a:srgbClr val="A0461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927600" y="4381500"/>
            <a:ext cx="664514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Um usuário possui várias obras; cada obra possui vários capítulos. A sessão aponta para o usuário autenticado no dispositivo.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LoreBook · Projeto Integrador ADS 2026/2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Camadas separam interface, regras e dados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30400"/>
            <a:ext cx="59021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DEPENDÊNCIA, DE CIMA PARA BAIXO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5975" y="2248533"/>
            <a:ext cx="5723890" cy="552450"/>
          </a:xfrm>
          <a:prstGeom prst="roundRect">
            <a:avLst>
              <a:gd name="adj" fmla="val 15517"/>
            </a:avLst>
          </a:prstGeom>
          <a:solidFill>
            <a:srgbClr val="FCFAF4"/>
          </a:solidFill>
          <a:ln w="6350">
            <a:solidFill>
              <a:srgbClr val="D9CF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350" y="2400300"/>
            <a:ext cx="2485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87750" y="2418079"/>
            <a:ext cx="28281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Telas, componentes e feedback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5975" y="2908933"/>
            <a:ext cx="5723890" cy="552450"/>
          </a:xfrm>
          <a:prstGeom prst="roundRect">
            <a:avLst>
              <a:gd name="adj" fmla="val 15517"/>
            </a:avLst>
          </a:prstGeom>
          <a:solidFill>
            <a:srgbClr val="FCFAF4"/>
          </a:solidFill>
          <a:ln w="6350">
            <a:solidFill>
              <a:srgbClr val="D9CF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2350" y="3060700"/>
            <a:ext cx="2485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Application / State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87750" y="3078479"/>
            <a:ext cx="28281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Contextos, hooks e fluxos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975" y="3569333"/>
            <a:ext cx="5723890" cy="552450"/>
          </a:xfrm>
          <a:prstGeom prst="roundRect">
            <a:avLst>
              <a:gd name="adj" fmla="val 15517"/>
            </a:avLst>
          </a:prstGeom>
          <a:solidFill>
            <a:srgbClr val="FCFAF4"/>
          </a:solidFill>
          <a:ln w="6350">
            <a:solidFill>
              <a:srgbClr val="D9CF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2350" y="3721100"/>
            <a:ext cx="2485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Domain / Rules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87750" y="3738879"/>
            <a:ext cx="28281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Tipos, validações e permissões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800" y="4226558"/>
            <a:ext cx="5730240" cy="558800"/>
          </a:xfrm>
          <a:prstGeom prst="roundRect">
            <a:avLst>
              <a:gd name="adj" fmla="val 15909"/>
            </a:avLst>
          </a:prstGeom>
          <a:solidFill>
            <a:srgbClr val="A0461F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4381500"/>
            <a:ext cx="2485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/ Repositories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81400" y="4399279"/>
            <a:ext cx="2841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D9C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Leitura e escrita sem expor o SQL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4886958"/>
            <a:ext cx="5730240" cy="558800"/>
          </a:xfrm>
          <a:prstGeom prst="roundRect">
            <a:avLst>
              <a:gd name="adj" fmla="val 15909"/>
            </a:avLst>
          </a:prstGeom>
          <a:solidFill>
            <a:srgbClr val="1C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5041900"/>
            <a:ext cx="2485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81400" y="5059679"/>
            <a:ext cx="2841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8D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SQLite, migrações e transações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1930400"/>
            <a:ext cx="4429760" cy="3515360"/>
          </a:xfrm>
          <a:prstGeom prst="roundRect">
            <a:avLst>
              <a:gd name="adj" fmla="val 3613"/>
            </a:avLst>
          </a:prstGeom>
          <a:solidFill>
            <a:srgbClr val="EDE5D3"/>
          </a:solidFill>
          <a:ln/>
        </p:spPr>
      </p:sp>
      <p:sp>
        <p:nvSpPr>
          <p:cNvPr id="21" name="Text 19"/>
          <p:cNvSpPr/>
          <p:nvPr/>
        </p:nvSpPr>
        <p:spPr>
          <a:xfrm>
            <a:off x="7254240" y="2235200"/>
            <a:ext cx="39347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REPOSITORY PATTERN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54240" y="2600958"/>
            <a:ext cx="393476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O SQL não chega às telas.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54240" y="3045458"/>
            <a:ext cx="393476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Regras e permissões ficam testáveis, isoladas da interface e do banco.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54240" y="3695700"/>
            <a:ext cx="393476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Serviço remoto e IA entram como novas fontes, sem reescrever as telas.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LoreBook · Projeto Integrador ADS 2026/2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TECNOLOGIAS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Uma pilha enxuta, com foco inicial em Android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33575"/>
            <a:ext cx="3414183" cy="1380490"/>
          </a:xfrm>
          <a:prstGeom prst="roundRect">
            <a:avLst>
              <a:gd name="adj" fmla="val 8970"/>
            </a:avLst>
          </a:prstGeom>
          <a:solidFill>
            <a:srgbClr val="FCFAF4"/>
          </a:solidFill>
          <a:ln w="6350">
            <a:solidFill>
              <a:srgbClr val="D9CF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90750"/>
            <a:ext cx="298682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React Native + Expo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2559050"/>
            <a:ext cx="298682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Uma base de código para aplicativos multiplataforma.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8908" y="1933575"/>
            <a:ext cx="3414183" cy="1380490"/>
          </a:xfrm>
          <a:prstGeom prst="roundRect">
            <a:avLst>
              <a:gd name="adj" fmla="val 8970"/>
            </a:avLst>
          </a:prstGeom>
          <a:solidFill>
            <a:srgbClr val="FCFAF4"/>
          </a:solidFill>
          <a:ln w="6350">
            <a:solidFill>
              <a:srgbClr val="D9CF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6083" y="2190750"/>
            <a:ext cx="298682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TypeScript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46083" y="2559050"/>
            <a:ext cx="298682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Tipagem que reduz erros e facilita a manutenção.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61842" y="1933575"/>
            <a:ext cx="3414183" cy="1380490"/>
          </a:xfrm>
          <a:prstGeom prst="roundRect">
            <a:avLst>
              <a:gd name="adj" fmla="val 8970"/>
            </a:avLst>
          </a:prstGeom>
          <a:solidFill>
            <a:srgbClr val="FCFAF4"/>
          </a:solidFill>
          <a:ln w="6350">
            <a:solidFill>
              <a:srgbClr val="D9CF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9017" y="2190750"/>
            <a:ext cx="298682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Expo SQLite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19017" y="2559050"/>
            <a:ext cx="298682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Persistência local estruturada, com base para uso offline.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5975" y="3472817"/>
            <a:ext cx="3414183" cy="1380490"/>
          </a:xfrm>
          <a:prstGeom prst="roundRect">
            <a:avLst>
              <a:gd name="adj" fmla="val 8970"/>
            </a:avLst>
          </a:prstGeom>
          <a:solidFill>
            <a:srgbClr val="FCFAF4"/>
          </a:solidFill>
          <a:ln w="6350">
            <a:solidFill>
              <a:srgbClr val="D9CF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3150" y="3729992"/>
            <a:ext cx="298682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Expo Crypto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73150" y="4098292"/>
            <a:ext cx="298682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Salt e hash para as credenciais locais.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8908" y="3472817"/>
            <a:ext cx="3414183" cy="1380490"/>
          </a:xfrm>
          <a:prstGeom prst="roundRect">
            <a:avLst>
              <a:gd name="adj" fmla="val 8970"/>
            </a:avLst>
          </a:prstGeom>
          <a:solidFill>
            <a:srgbClr val="FCFAF4"/>
          </a:solidFill>
          <a:ln w="6350">
            <a:solidFill>
              <a:srgbClr val="D9CF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6083" y="3729992"/>
            <a:ext cx="298682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Safe Area Context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46083" y="4098292"/>
            <a:ext cx="298682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Interface que respeita as áreas do sistema.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61842" y="3472817"/>
            <a:ext cx="3414183" cy="1380490"/>
          </a:xfrm>
          <a:prstGeom prst="roundRect">
            <a:avLst>
              <a:gd name="adj" fmla="val 8970"/>
            </a:avLst>
          </a:prstGeom>
          <a:solidFill>
            <a:srgbClr val="FCFAF4"/>
          </a:solidFill>
          <a:ln w="6350">
            <a:solidFill>
              <a:srgbClr val="D9CF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9017" y="3729992"/>
            <a:ext cx="298682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Git / GitHub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19017" y="4098292"/>
            <a:ext cx="298682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Versionamento e rastreabilidade da evolução.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LoreBook · Projeto Integrador ADS 2026/2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USABILIDADE E ACESSIBILIDADE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A interface prioriza a escrita e a clareza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400"/>
            <a:ext cx="3556000" cy="3399790"/>
          </a:xfrm>
          <a:prstGeom prst="roundRect">
            <a:avLst>
              <a:gd name="adj" fmla="val 3736"/>
            </a:avLst>
          </a:prstGeom>
          <a:solidFill>
            <a:srgbClr val="1C1A2E"/>
          </a:solidFill>
          <a:ln/>
        </p:spPr>
      </p:sp>
      <p:pic>
        <p:nvPicPr>
          <p:cNvPr id="5" name="Image 0" descr="Lightbulb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7600" y="2235200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7600" y="3225167"/>
            <a:ext cx="3034792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F6F1E7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Menos elementos no editor, mais espaço para a história.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17600" y="4812029"/>
            <a:ext cx="30347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8D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Princípio de design do LoreBook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75200" y="1936750"/>
            <a:ext cx="6604000" cy="0"/>
          </a:xfrm>
          <a:prstGeom prst="line">
            <a:avLst/>
          </a:prstGeom>
          <a:noFill/>
          <a:ln w="12700">
            <a:solidFill>
              <a:srgbClr val="1C1A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75200" y="2423795"/>
            <a:ext cx="66040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pic>
        <p:nvPicPr>
          <p:cNvPr id="10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75200" y="2080258"/>
            <a:ext cx="203200" cy="203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05400" y="2057400"/>
            <a:ext cx="3932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Hierarquia clara entre conteúdo e ações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775200" y="2907666"/>
            <a:ext cx="66040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pic>
        <p:nvPicPr>
          <p:cNvPr id="13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75200" y="2564129"/>
            <a:ext cx="203200" cy="203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05400" y="2541271"/>
            <a:ext cx="466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Áreas de toque adequadas e rótulos descritivos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775200" y="3391538"/>
            <a:ext cx="66040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pic>
        <p:nvPicPr>
          <p:cNvPr id="16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75200" y="3048000"/>
            <a:ext cx="203200" cy="203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05400" y="3025142"/>
            <a:ext cx="44578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Labels visíveis e campos de senha protegidos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775200" y="3875403"/>
            <a:ext cx="66040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pic>
        <p:nvPicPr>
          <p:cNvPr id="19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75200" y="3531871"/>
            <a:ext cx="203200" cy="203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05400" y="3509008"/>
            <a:ext cx="4653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Estados de carregamento, vazio, erro e sucesso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4775200" y="4359274"/>
            <a:ext cx="66040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pic>
        <p:nvPicPr>
          <p:cNvPr id="22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75200" y="4015742"/>
            <a:ext cx="203200" cy="203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105400" y="3992879"/>
            <a:ext cx="4477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Confirmação antes de excluir ou sair da conta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4775200" y="4843145"/>
            <a:ext cx="66040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pic>
        <p:nvPicPr>
          <p:cNvPr id="25" name="Image 6" descr="Chec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775200" y="4499608"/>
            <a:ext cx="203200" cy="203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105400" y="4476750"/>
            <a:ext cx="40566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Editor enxuto, focado em leitura e escrita</a:t>
            </a:r>
            <a:endParaRPr lang="en-US" sz="1400" dirty="0"/>
          </a:p>
        </p:txBody>
      </p:sp>
      <p:sp>
        <p:nvSpPr>
          <p:cNvPr id="27" name="Shape 18"/>
          <p:cNvSpPr/>
          <p:nvPr/>
        </p:nvSpPr>
        <p:spPr>
          <a:xfrm>
            <a:off x="4775200" y="5327016"/>
            <a:ext cx="6604000" cy="0"/>
          </a:xfrm>
          <a:prstGeom prst="line">
            <a:avLst/>
          </a:prstGeom>
          <a:noFill/>
          <a:ln w="6350">
            <a:solidFill>
              <a:srgbClr val="D9CFBB"/>
            </a:solidFill>
            <a:prstDash val="solid"/>
          </a:ln>
        </p:spPr>
      </p:sp>
      <p:pic>
        <p:nvPicPr>
          <p:cNvPr id="28" name="Image 7" descr="Check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775200" y="4983479"/>
            <a:ext cx="203200" cy="2032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105400" y="4960621"/>
            <a:ext cx="3364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Safe area, contraste e legibilidade</a:t>
            </a:r>
            <a:endParaRPr lang="en-US" sz="1400" dirty="0"/>
          </a:p>
        </p:txBody>
      </p:sp>
      <p:sp>
        <p:nvSpPr>
          <p:cNvPr id="30" name="Text 20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LoreBook · Projeto Integrador ADS 2026/2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39B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EVOLUÇÃO FUTURA · INTELIGÊNCIA ARTIFICIAL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1E7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A IA apoia o autor, sem substituir a autoria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600"/>
            <a:ext cx="5207000" cy="1074420"/>
          </a:xfrm>
          <a:prstGeom prst="roundRect">
            <a:avLst>
              <a:gd name="adj" fmla="val 11820"/>
            </a:avLst>
          </a:prstGeom>
          <a:solidFill>
            <a:srgbClr val="2A2740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08200"/>
            <a:ext cx="489229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6F1E7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Opcional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41400" y="2476500"/>
            <a:ext cx="4892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FC8D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Um recurso de apoio, acionado pelo autor.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879600"/>
            <a:ext cx="5207000" cy="1074420"/>
          </a:xfrm>
          <a:prstGeom prst="roundRect">
            <a:avLst>
              <a:gd name="adj" fmla="val 11820"/>
            </a:avLst>
          </a:prstGeom>
          <a:solidFill>
            <a:srgbClr val="2A274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108200"/>
            <a:ext cx="489229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6F1E7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Sugere, não altera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476500"/>
            <a:ext cx="4892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FC8D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 reescrita é mostrada antes de ser aplicada.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106421"/>
            <a:ext cx="5207000" cy="1074420"/>
          </a:xfrm>
          <a:prstGeom prst="roundRect">
            <a:avLst>
              <a:gd name="adj" fmla="val 11820"/>
            </a:avLst>
          </a:prstGeom>
          <a:solidFill>
            <a:srgbClr val="2A2740"/>
          </a:solidFill>
          <a:ln/>
        </p:spPr>
      </p:sp>
      <p:sp>
        <p:nvSpPr>
          <p:cNvPr id="11" name="Text 9"/>
          <p:cNvSpPr/>
          <p:nvPr/>
        </p:nvSpPr>
        <p:spPr>
          <a:xfrm>
            <a:off x="1041400" y="3335021"/>
            <a:ext cx="489229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6F1E7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Contexto autorizado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41400" y="3703321"/>
            <a:ext cx="4892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FC8D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Envia só o trecho selecionado, não a obra inteira.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106421"/>
            <a:ext cx="5207000" cy="1074420"/>
          </a:xfrm>
          <a:prstGeom prst="roundRect">
            <a:avLst>
              <a:gd name="adj" fmla="val 11820"/>
            </a:avLst>
          </a:prstGeom>
          <a:solidFill>
            <a:srgbClr val="2A274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335021"/>
            <a:ext cx="489229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6F1E7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Camada desacoplada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3703321"/>
            <a:ext cx="4892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FC8D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 provedor de IA pode mudar sem tocar nas telas.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48564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FC8D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Usos previstos:</a:t>
            </a:r>
            <a:r>
              <a:rPr lang="en-US" sz="1400" dirty="0">
                <a:solidFill>
                  <a:srgbClr val="CFC8D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consulta contextual, revisão de coerência e continuidade, organização de fichas e notas.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E97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LoreBook · Projeto Integrador ADS 2026/2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E97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PLANEJAMENTO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A entrega avança em sete etapas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0600" y="3797300"/>
            <a:ext cx="8026400" cy="25400"/>
          </a:xfrm>
          <a:prstGeom prst="rect">
            <a:avLst/>
          </a:prstGeom>
          <a:solidFill>
            <a:srgbClr val="1C1A2E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36322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C1A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52650" y="36322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C1A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86150" y="36322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C1A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6000" y="36322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C1A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65850" y="36322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C1A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9350" y="36322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C1A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39200" y="36322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A046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299458"/>
            <a:ext cx="2616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Escopo e requisitos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52650" y="4114800"/>
            <a:ext cx="2616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Prototipação e navegação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86150" y="3299458"/>
            <a:ext cx="2616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Persistência local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26000" y="4114800"/>
            <a:ext cx="2616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Autenticação e perfis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65850" y="3299458"/>
            <a:ext cx="2616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Obras e capítulos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9350" y="4114800"/>
            <a:ext cx="2616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C1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Usabilidade e acessibilidade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39200" y="3299458"/>
            <a:ext cx="2616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Sincronização e IA (futuro)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52070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Desenvolvimento incremental, com atividades registradas no backlog e no histórico do Git.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LoreBook · Projeto Integrador ADS 2026/2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046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LIMITAÇÕES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1A2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Limitações conhecidas desta primeira versão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3100"/>
          <a:ext cx="10553700" cy="2578100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51562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1E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Limitação atual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9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9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1E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Evolução prevista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1A19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9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9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E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A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Dados salvos apenas no dispositivo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9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A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Serviço remoto com sincronização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9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9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4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A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Sem recuperação remota de senha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A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Autenticação adequada ao serviço remoto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BF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A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A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Planejamento narrativo ainda parcial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A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Gerenciamento completo, de forma gradual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9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4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A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IA ainda não integrada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A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Integração opcional e controlada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BF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876800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 SQLite segue como camada local e offline; a arquitetura em camadas recebe as novas capacidades sem concentrar regras nas telas.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LoreBook · Projeto Integrador ADS 2026/2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39B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ENCERRAMENTO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321558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i="1" dirty="0">
                <a:solidFill>
                  <a:srgbClr val="F6F1E7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Obrigado.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235958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CFC8D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Perguntas e sugestões são bem-vindas.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4861558"/>
            <a:ext cx="5181600" cy="1183640"/>
          </a:xfrm>
          <a:prstGeom prst="roundRect">
            <a:avLst>
              <a:gd name="adj" fmla="val 10730"/>
            </a:avLst>
          </a:prstGeom>
          <a:solidFill>
            <a:srgbClr val="2A2740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5090158"/>
            <a:ext cx="486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Pedro Henrique de Araujo Pereira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1400" y="5389885"/>
            <a:ext cx="486613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8D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Desenvolvimento, persistência, autenticação, regras de acesso e integração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7600" y="4861558"/>
            <a:ext cx="5181600" cy="1183640"/>
          </a:xfrm>
          <a:prstGeom prst="roundRect">
            <a:avLst>
              <a:gd name="adj" fmla="val 10730"/>
            </a:avLst>
          </a:prstGeom>
          <a:solidFill>
            <a:srgbClr val="2A2740"/>
          </a:solidFill>
          <a:ln/>
        </p:spPr>
      </p:sp>
      <p:sp>
        <p:nvSpPr>
          <p:cNvPr id="9" name="Text 7"/>
          <p:cNvSpPr/>
          <p:nvPr/>
        </p:nvSpPr>
        <p:spPr>
          <a:xfrm>
            <a:off x="6426200" y="5090158"/>
            <a:ext cx="486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Henrique Borges da Silva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26200" y="5389885"/>
            <a:ext cx="486613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8D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Desenvolvimento de interface, fluxos, usabilidade, testes e documentação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reBook — Proposta de Projeto">
  <a:themeElements>
    <a:clrScheme name="LoreBook — Proposta de Projeto">
      <a:dk1>
        <a:srgbClr val="1C1A2E"/>
      </a:dk1>
      <a:lt1>
        <a:srgbClr val="F6F1E7"/>
      </a:lt1>
      <a:dk2>
        <a:srgbClr val="53505C"/>
      </a:dk2>
      <a:lt2>
        <a:srgbClr val="E0DCD5"/>
      </a:lt2>
      <a:accent1>
        <a:srgbClr val="A0461F"/>
      </a:accent1>
      <a:accent2>
        <a:srgbClr val="F6D9C4"/>
      </a:accent2>
      <a:accent3>
        <a:srgbClr val="E39B6B"/>
      </a:accent3>
      <a:accent4>
        <a:srgbClr val="4A4558"/>
      </a:accent4>
      <a:accent5>
        <a:srgbClr val="6B6478"/>
      </a:accent5>
      <a:accent6>
        <a:srgbClr val="CFC8DA"/>
      </a:accent6>
      <a:hlink>
        <a:srgbClr val="0563C1"/>
      </a:hlink>
      <a:folHlink>
        <a:srgbClr val="954F72"/>
      </a:folHlink>
    </a:clrScheme>
    <a:fontScheme name="LoreBook — Proposta de Projeto">
      <a:majorFont>
        <a:latin typeface="Fraunce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LoreBook — Proposta de Projeto</dc:title>
  <dc:subject/>
  <dc:creator/>
  <cp:lastModifiedBy/>
  <cp:revision>1</cp:revision>
  <dcterms:created xsi:type="dcterms:W3CDTF">2026-10-08T20:09:12Z</dcterms:created>
  <dcterms:modified xsi:type="dcterms:W3CDTF">2026-10-08T20:09:12Z</dcterms:modified>
</cp:coreProperties>
</file>